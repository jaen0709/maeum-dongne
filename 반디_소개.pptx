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371600"/>
            <a:ext cx="82296" cy="82296"/>
          </a:xfrm>
          <a:prstGeom prst="ellipse">
            <a:avLst/>
          </a:prstGeom>
          <a:solidFill>
            <a:srgbClr val="F5C451"/>
          </a:solidFill>
          <a:ln/>
          <a:effectLst>
            <a:outerShdw sx="100000" sy="100000" kx="0" ky="0" algn="bl" rotWithShape="0" blurRad="177800" dist="50800" dir="16200000">
              <a:srgbClr val="FFD9A0">
                <a:alpha val="8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194560" y="4297680"/>
            <a:ext cx="64008" cy="64008"/>
          </a:xfrm>
          <a:prstGeom prst="ellipse">
            <a:avLst/>
          </a:prstGeom>
          <a:solidFill>
            <a:srgbClr val="F5C451"/>
          </a:solidFill>
          <a:ln/>
          <a:effectLst>
            <a:outerShdw sx="100000" sy="100000" kx="0" ky="0" algn="bl" rotWithShape="0" blurRad="177800" dist="50800" dir="16200000">
              <a:srgbClr val="FFD9A0">
                <a:alpha val="8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424160" y="1828800"/>
            <a:ext cx="91440" cy="91440"/>
          </a:xfrm>
          <a:prstGeom prst="ellipse">
            <a:avLst/>
          </a:prstGeom>
          <a:solidFill>
            <a:srgbClr val="F5C451"/>
          </a:solidFill>
          <a:ln/>
          <a:effectLst>
            <a:outerShdw sx="100000" sy="100000" kx="0" ky="0" algn="bl" rotWithShape="0" blurRad="177800" dist="50800" dir="16200000">
              <a:srgbClr val="FFD9A0">
                <a:alpha val="8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92640" y="4754880"/>
            <a:ext cx="73152" cy="73152"/>
          </a:xfrm>
          <a:prstGeom prst="ellipse">
            <a:avLst/>
          </a:prstGeom>
          <a:solidFill>
            <a:srgbClr val="F5C451"/>
          </a:solidFill>
          <a:ln/>
          <a:effectLst>
            <a:outerShdw sx="100000" sy="100000" kx="0" ky="0" algn="bl" rotWithShape="0" blurRad="177800" dist="50800" dir="16200000">
              <a:srgbClr val="FFD9A0">
                <a:alpha val="8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097280"/>
            <a:ext cx="54864" cy="54864"/>
          </a:xfrm>
          <a:prstGeom prst="ellipse">
            <a:avLst/>
          </a:prstGeom>
          <a:solidFill>
            <a:srgbClr val="F5C451"/>
          </a:solidFill>
          <a:ln/>
          <a:effectLst>
            <a:outerShdw sx="100000" sy="100000" kx="0" ky="0" algn="bl" rotWithShape="0" blurRad="177800" dist="50800" dir="16200000">
              <a:srgbClr val="FFD9A0">
                <a:alpha val="8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0" y="187452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동네 봉사 매칭 서비스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2194560"/>
            <a:ext cx="12161520" cy="1554480"/>
          </a:xfrm>
          <a:prstGeom prst="rect">
            <a:avLst/>
          </a:prstGeom>
          <a:noFill/>
          <a:ln/>
          <a:effectLst>
            <a:outerShdw sx="100000" sy="100000" kx="0" ky="0" algn="bl" rotWithShape="0" blurRad="279400" dist="50800" dir="16200000">
              <a:srgbClr val="F5C451">
                <a:alpha val="5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반디</a:t>
            </a:r>
            <a:endParaRPr lang="en-US" sz="11600" dirty="0"/>
          </a:p>
        </p:txBody>
      </p:sp>
      <p:sp>
        <p:nvSpPr>
          <p:cNvPr id="9" name="Text 7"/>
          <p:cNvSpPr/>
          <p:nvPr/>
        </p:nvSpPr>
        <p:spPr>
          <a:xfrm>
            <a:off x="0" y="388620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빛 하나가 모여, 우리 동네를 밝혀요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0" y="521208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봉사가 부담이 아니라, 오늘의 작은 빛이 되도록  ✨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앱은, 한 사람의 마음에서 시작됐어요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7406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“나는 봉사를 하고 싶었어요.”
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시간이 넉넉하진 않지만,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그래도 우리 동네에서 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활동 하나라도</a:t>
            </a:r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하고 싶었죠.
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거창한 봉사시간 인증이 필요한 게 아니라,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그냥 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마음을 나누고 싶었을 뿐이에요.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2926080"/>
            <a:ext cx="1371600" cy="1371600"/>
          </a:xfrm>
          <a:prstGeom prst="ellipse">
            <a:avLst/>
          </a:prstGeom>
          <a:solidFill>
            <a:srgbClr val="F5C451"/>
          </a:solidFill>
          <a:ln/>
          <a:effectLst>
            <a:outerShdw sx="100000" sy="100000" kx="0" ky="0" algn="bl" rotWithShape="0" blurRad="508000" dist="50800" dir="16200000">
              <a:srgbClr val="FFD9A0">
                <a:alpha val="9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0" y="4480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6BCD8"/>
                </a:solidFill>
              </a:rPr>
              <a:t>반디 한 마리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반디</a:t>
            </a:r>
            <a:pPr algn="r" indent="0" marL="0">
              <a:buNone/>
            </a:pPr>
            <a:r>
              <a:rPr lang="en-US" sz="1200" dirty="0">
                <a:solidFill>
                  <a:srgbClr val="8E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✦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그런데, 봉사를 찾는 일부터 막막했어요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698480" cy="1325880"/>
          </a:xfrm>
          <a:prstGeom prst="roundRect">
            <a:avLst>
              <a:gd name="adj" fmla="val 8276"/>
            </a:avLst>
          </a:prstGeom>
          <a:solidFill>
            <a:srgbClr val="1A2340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892808"/>
            <a:ext cx="658368" cy="658368"/>
          </a:xfrm>
          <a:prstGeom prst="ellipse">
            <a:avLst/>
          </a:prstGeom>
          <a:solidFill>
            <a:srgbClr val="222C4E"/>
          </a:solidFill>
          <a:ln w="12700">
            <a:solidFill>
              <a:srgbClr val="F5C4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928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🌫️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965960" y="175564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너무 광범위하고 복잡해요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965960" y="2212848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봉사 플랫폼은 범위가 넓고, 신청부터 실행까지 절차가 많아 지레 지쳐요.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3035808"/>
            <a:ext cx="10698480" cy="1325880"/>
          </a:xfrm>
          <a:prstGeom prst="roundRect">
            <a:avLst>
              <a:gd name="adj" fmla="val 8276"/>
            </a:avLst>
          </a:prstGeom>
          <a:solidFill>
            <a:srgbClr val="1A2340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3374136"/>
            <a:ext cx="658368" cy="658368"/>
          </a:xfrm>
          <a:prstGeom prst="ellipse">
            <a:avLst/>
          </a:prstGeom>
          <a:solidFill>
            <a:srgbClr val="222C4E"/>
          </a:solidFill>
          <a:ln w="12700">
            <a:solidFill>
              <a:srgbClr val="F5C4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3741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📄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965960" y="323697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'확인서'가 중심이에요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965960" y="3694176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봉사시간 인증이 필요한 사람 위주. 순수하게 돕고 싶은 마음은 뒷전이 돼요.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4517136"/>
            <a:ext cx="10698480" cy="1325880"/>
          </a:xfrm>
          <a:prstGeom prst="roundRect">
            <a:avLst>
              <a:gd name="adj" fmla="val 8276"/>
            </a:avLst>
          </a:prstGeom>
          <a:solidFill>
            <a:srgbClr val="1A2340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4855464"/>
            <a:ext cx="658368" cy="658368"/>
          </a:xfrm>
          <a:prstGeom prst="ellipse">
            <a:avLst/>
          </a:prstGeom>
          <a:solidFill>
            <a:srgbClr val="222C4E"/>
          </a:solidFill>
          <a:ln w="12700">
            <a:solidFill>
              <a:srgbClr val="F5C4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8554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😵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965960" y="471830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올리는 쪽도 불편해요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965960" y="5175504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봉사 손길이 필요한 곳도, 활동을 등록하고 사람을 모으는 일이 번거로워요.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0698480" y="6355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반디</a:t>
            </a:r>
            <a:pPr algn="r" indent="0" marL="0">
              <a:buNone/>
            </a:pPr>
            <a:r>
              <a:rPr lang="en-US" sz="1200" dirty="0">
                <a:solidFill>
                  <a:srgbClr val="8E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✦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그래서,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반디</a:t>
            </a:r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만들었어요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68680" y="3291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가볍게.  우리 동네에서.  마음 편히.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420624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봉사를 '하고 싶은 마음'과 '봉사가 필요한 곳'을,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동네 안에서 가장 쉽게 잇는 앱.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'반디'일까요?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3258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반디</a:t>
            </a:r>
            <a:pPr indent="0" marL="0">
              <a:buNone/>
            </a:pPr>
            <a:r>
              <a:rPr lang="en-US" sz="2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반딧불이.  스스로 빛나는 작은 존재.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0B1026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4231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🌑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깜깜한 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아무도 나서지 않은 우리 동네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21031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3B2A63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0" y="24231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✨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389120" y="34290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반디가 하나둘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09160" y="39319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봉사·기부 하나가 반디 한 마리를 밝혀요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01000" y="21031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B05A2E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01000" y="24231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🌅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001000" y="34290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동트는 새벽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21040" y="39319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반디가 모일수록 동네 밤하늘이 밝아져요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52578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이웃들의 작은 빛이 모여, 우리 동네가 함께 밝아집니다.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698480" y="6355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반디</a:t>
            </a:r>
            <a:pPr algn="r" indent="0" marL="0">
              <a:buNone/>
            </a:pPr>
            <a:r>
              <a:rPr lang="en-US" sz="1200" dirty="0">
                <a:solidFill>
                  <a:srgbClr val="8E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✦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반디는 이런 게 달라요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1A2340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874520"/>
            <a:ext cx="731520" cy="731520"/>
          </a:xfrm>
          <a:prstGeom prst="ellipse">
            <a:avLst/>
          </a:prstGeom>
          <a:solidFill>
            <a:srgbClr val="222C4E"/>
          </a:solidFill>
          <a:ln w="12700">
            <a:solidFill>
              <a:srgbClr val="F5C4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🕯️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011680" y="18928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마음확인증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11680" y="242316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인증이 아닌, 따뜻한 참여 기록.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확인서 압박 없이 순수하게 참여해요.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1A2340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9400" y="1874520"/>
            <a:ext cx="731520" cy="731520"/>
          </a:xfrm>
          <a:prstGeom prst="ellipse">
            <a:avLst/>
          </a:prstGeom>
          <a:solidFill>
            <a:srgbClr val="222C4E"/>
          </a:solidFill>
          <a:ln w="12700">
            <a:solidFill>
              <a:srgbClr val="F5C4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📍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589520" y="18928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동네(동) 단위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589520" y="242316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생활권 안에서, 가까운 곳부터.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부담 없이 오갈 수 있는 거리.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1A2340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4160520"/>
            <a:ext cx="731520" cy="731520"/>
          </a:xfrm>
          <a:prstGeom prst="ellipse">
            <a:avLst/>
          </a:prstGeom>
          <a:solidFill>
            <a:srgbClr val="222C4E"/>
          </a:solidFill>
          <a:ln w="12700">
            <a:solidFill>
              <a:srgbClr val="F5C4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160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✨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011680" y="41788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반디 포인트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011680" y="470916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"나 반디 320마리야!"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자랑하고 싶은 나만의 선행 지표.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309360" y="379476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1A2340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29400" y="4160520"/>
            <a:ext cx="731520" cy="731520"/>
          </a:xfrm>
          <a:prstGeom prst="ellipse">
            <a:avLst/>
          </a:prstGeom>
          <a:solidFill>
            <a:srgbClr val="222C4E"/>
          </a:solidFill>
          <a:ln w="12700">
            <a:solidFill>
              <a:srgbClr val="F5C4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4160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🤝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589520" y="41788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양방향 심플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589520" y="470916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참여도, 봉사 올리기도 3단계 이내.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누구나 쉽게 시작해요.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0698480" y="6355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반디</a:t>
            </a:r>
            <a:pPr algn="r" indent="0" marL="0">
              <a:buNone/>
            </a:pPr>
            <a:r>
              <a:rPr lang="en-US" sz="1200" dirty="0">
                <a:solidFill>
                  <a:srgbClr val="8E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✦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1A2340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874520"/>
            <a:ext cx="685800" cy="685800"/>
          </a:xfrm>
          <a:prstGeom prst="ellipse">
            <a:avLst/>
          </a:prstGeom>
          <a:solidFill>
            <a:srgbClr val="222C4E"/>
          </a:solidFill>
          <a:ln w="12700">
            <a:solidFill>
              <a:srgbClr val="F5C4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7452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찾기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" y="26974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동네 밤하늘(밝기)과 함께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가까운 봉사를 탐색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1A2340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874520"/>
            <a:ext cx="685800" cy="685800"/>
          </a:xfrm>
          <a:prstGeom prst="ellipse">
            <a:avLst/>
          </a:prstGeom>
          <a:solidFill>
            <a:srgbClr val="222C4E"/>
          </a:solidFill>
          <a:ln w="12700">
            <a:solidFill>
              <a:srgbClr val="F5C4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사랑방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90872" y="26974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"이거 같이 해볼래요?"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이웃에게 제안하고 모여요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55280" y="15544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1A2340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75320" y="1874520"/>
            <a:ext cx="685800" cy="685800"/>
          </a:xfrm>
          <a:prstGeom prst="ellipse">
            <a:avLst/>
          </a:prstGeom>
          <a:solidFill>
            <a:srgbClr val="222C4E"/>
          </a:solidFill>
          <a:ln w="12700">
            <a:solidFill>
              <a:srgbClr val="F5C4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➕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09828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봉사 올리기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02752" y="26974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프리셋 칩으로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3단계면 등록 끝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1520" y="388620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1A2340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51560" y="4206240"/>
            <a:ext cx="685800" cy="685800"/>
          </a:xfrm>
          <a:prstGeom prst="ellipse">
            <a:avLst/>
          </a:prstGeom>
          <a:solidFill>
            <a:srgbClr val="222C4E"/>
          </a:solidFill>
          <a:ln w="12700">
            <a:solidFill>
              <a:srgbClr val="F5C4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874520" y="4297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출석확인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78992" y="50292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주최자가 참여를 확정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(셀프 처리 방지)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343400" y="388620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1A2340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4206240"/>
            <a:ext cx="685800" cy="685800"/>
          </a:xfrm>
          <a:prstGeom prst="ellipse">
            <a:avLst/>
          </a:prstGeom>
          <a:solidFill>
            <a:srgbClr val="222C4E"/>
          </a:solidFill>
          <a:ln w="12700">
            <a:solidFill>
              <a:srgbClr val="F5C4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🕯️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86400" y="4297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마음확인증함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90872" y="50292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참여의 따뜻한 기록을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모아서 보관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955280" y="388620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1A2340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75320" y="4206240"/>
            <a:ext cx="685800" cy="685800"/>
          </a:xfrm>
          <a:prstGeom prst="ellipse">
            <a:avLst/>
          </a:prstGeom>
          <a:solidFill>
            <a:srgbClr val="222C4E"/>
          </a:solidFill>
          <a:ln w="12700">
            <a:solidFill>
              <a:srgbClr val="F5C4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098280" y="4297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302752" y="50292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반디·이웃 등급 자랑,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활동 관리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698480" y="6355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반디</a:t>
            </a:r>
            <a:pPr algn="r" indent="0" marL="0">
              <a:buNone/>
            </a:pPr>
            <a:r>
              <a:rPr lang="en-US" sz="1200" dirty="0">
                <a:solidFill>
                  <a:srgbClr val="8E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✦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이렇게 작동해요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1A2340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84732" y="2560320"/>
            <a:ext cx="585216" cy="58521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5" name="Text 3"/>
          <p:cNvSpPr/>
          <p:nvPr/>
        </p:nvSpPr>
        <p:spPr>
          <a:xfrm>
            <a:off x="1284732" y="2560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가입하기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3858768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닉네임으로 간단히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77440" y="310896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451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42032" y="228600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1A2340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95244" y="2560320"/>
            <a:ext cx="585216" cy="58521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1" name="Text 9"/>
          <p:cNvSpPr/>
          <p:nvPr/>
        </p:nvSpPr>
        <p:spPr>
          <a:xfrm>
            <a:off x="3095244" y="2560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87752" y="32918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동네 선택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15184" y="3858768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위치 기반 가까운 동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87952" y="310896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451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52544" y="228600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1A2340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05756" y="2560320"/>
            <a:ext cx="585216" cy="58521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7" name="Text 15"/>
          <p:cNvSpPr/>
          <p:nvPr/>
        </p:nvSpPr>
        <p:spPr>
          <a:xfrm>
            <a:off x="4905756" y="2560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398264" y="32918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봉사 찾기·신청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25696" y="3858768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가까운 활동에 참여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98464" y="310896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451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63056" y="228600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1A2340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16268" y="2560320"/>
            <a:ext cx="585216" cy="58521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23" name="Text 21"/>
          <p:cNvSpPr/>
          <p:nvPr/>
        </p:nvSpPr>
        <p:spPr>
          <a:xfrm>
            <a:off x="6716268" y="2560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208776" y="32918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봉사 참여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36208" y="3858768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동네에서 함께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808976" y="310896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451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73568" y="228600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1A2340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526780" y="2560320"/>
            <a:ext cx="585216" cy="58521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29" name="Text 27"/>
          <p:cNvSpPr/>
          <p:nvPr/>
        </p:nvSpPr>
        <p:spPr>
          <a:xfrm>
            <a:off x="8526780" y="2560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019288" y="32918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주최자 출석확인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046720" y="3858768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관리자가 참여 확정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619488" y="310896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451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784080" y="228600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1A2340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337292" y="2560320"/>
            <a:ext cx="585216" cy="58521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35" name="Text 33"/>
          <p:cNvSpPr/>
          <p:nvPr/>
        </p:nvSpPr>
        <p:spPr>
          <a:xfrm>
            <a:off x="10337292" y="2560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9829800" y="32918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반디가 켜져요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857232" y="3858768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반디↑ · 동네가 밝아짐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31520" y="4892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핵심은 여기 →  참여 완료는 본인이 아니라 '주최자'가 확인해요. 그 순간 참여자의 반디가 켜집니다.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698480" y="6355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반디</a:t>
            </a:r>
            <a:pPr algn="r" indent="0" marL="0">
              <a:buNone/>
            </a:pPr>
            <a:r>
              <a:rPr lang="en-US" sz="1200" dirty="0">
                <a:solidFill>
                  <a:srgbClr val="8E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✦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당근엔 '온도', 반디엔 '반디'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선행이 쌓일수록 늘어나는, 자랑하고 싶은 나만의 빛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7240" y="219456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1A2340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나의 반디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9718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</a:t>
            </a:r>
            <a:pPr algn="l" indent="0" marL="0">
              <a:buNone/>
            </a:pPr>
            <a:r>
              <a:rPr lang="en-US" sz="8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마리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51560" y="4434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"나 이번 달에 반디 320마리 밝혔어 😎"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219456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1A2340"/>
          </a:solidFill>
          <a:ln w="9525">
            <a:solidFill>
              <a:srgbClr val="3440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동네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971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연남동</a:t>
            </a:r>
            <a:pPr indent="0" marL="0">
              <a:buNone/>
            </a:pPr>
            <a:r>
              <a:rPr lang="en-US" sz="1800" dirty="0">
                <a:solidFill>
                  <a:srgbClr val="B6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오늘 밤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583680" y="36118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🏮 </a:t>
            </a:r>
            <a:pPr indent="0" marL="0">
              <a:buNone/>
            </a:pPr>
            <a:r>
              <a:rPr lang="en-US" sz="6000" b="1" dirty="0">
                <a:solidFill>
                  <a:srgbClr val="EF6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마리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83680" y="4617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이웃들의 반디가 모여, 밤하늘이 새벽으로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188720"/>
            <a:ext cx="82296" cy="82296"/>
          </a:xfrm>
          <a:prstGeom prst="ellipse">
            <a:avLst/>
          </a:prstGeom>
          <a:solidFill>
            <a:srgbClr val="F5C451"/>
          </a:solidFill>
          <a:ln/>
          <a:effectLst>
            <a:outerShdw sx="100000" sy="100000" kx="0" ky="0" algn="bl" rotWithShape="0" blurRad="177800" dist="50800" dir="16200000">
              <a:srgbClr val="FFD9A0">
                <a:alpha val="8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0607040" y="1463040"/>
            <a:ext cx="73152" cy="73152"/>
          </a:xfrm>
          <a:prstGeom prst="ellipse">
            <a:avLst/>
          </a:prstGeom>
          <a:solidFill>
            <a:srgbClr val="F5C451"/>
          </a:solidFill>
          <a:ln/>
          <a:effectLst>
            <a:outerShdw sx="100000" sy="100000" kx="0" ky="0" algn="bl" rotWithShape="0" blurRad="177800" dist="50800" dir="16200000">
              <a:srgbClr val="FFD9A0">
                <a:alpha val="8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011680" y="5394960"/>
            <a:ext cx="64008" cy="64008"/>
          </a:xfrm>
          <a:prstGeom prst="ellipse">
            <a:avLst/>
          </a:prstGeom>
          <a:solidFill>
            <a:srgbClr val="F5C451"/>
          </a:solidFill>
          <a:ln/>
          <a:effectLst>
            <a:outerShdw sx="100000" sy="100000" kx="0" ky="0" algn="bl" rotWithShape="0" blurRad="177800" dist="50800" dir="16200000">
              <a:srgbClr val="FFD9A0">
                <a:alpha val="8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0" y="5486400"/>
            <a:ext cx="82296" cy="82296"/>
          </a:xfrm>
          <a:prstGeom prst="ellipse">
            <a:avLst/>
          </a:prstGeom>
          <a:solidFill>
            <a:srgbClr val="F5C451"/>
          </a:solidFill>
          <a:ln/>
          <a:effectLst>
            <a:outerShdw sx="100000" sy="100000" kx="0" ky="0" algn="bl" rotWithShape="0" blurRad="177800" dist="50800" dir="16200000">
              <a:srgbClr val="FFD9A0">
                <a:alpha val="8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0" y="914400"/>
            <a:ext cx="1216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빛이, 더 좋은 세상으로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965960" y="2148840"/>
            <a:ext cx="1554480" cy="1554480"/>
          </a:xfrm>
          <a:prstGeom prst="ellipse">
            <a:avLst/>
          </a:prstGeom>
          <a:solidFill>
            <a:srgbClr val="1A2340"/>
          </a:solidFill>
          <a:ln w="15875">
            <a:solidFill>
              <a:srgbClr val="F5C4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21945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🙂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9164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251460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C451"/>
                </a:solidFill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669280" y="2148840"/>
            <a:ext cx="1554480" cy="1554480"/>
          </a:xfrm>
          <a:prstGeom prst="ellipse">
            <a:avLst/>
          </a:prstGeom>
          <a:solidFill>
            <a:srgbClr val="1A2340"/>
          </a:solidFill>
          <a:ln w="15875">
            <a:solidFill>
              <a:srgbClr val="F5C4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21945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🏘️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39496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동네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9480" y="251460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C451"/>
                </a:solidFill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372600" y="2148840"/>
            <a:ext cx="1554480" cy="1554480"/>
          </a:xfrm>
          <a:prstGeom prst="ellipse">
            <a:avLst/>
          </a:prstGeom>
          <a:solidFill>
            <a:srgbClr val="1A2340"/>
          </a:solidFill>
          <a:ln w="15875">
            <a:solidFill>
              <a:srgbClr val="F5C4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72600" y="21945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🌍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09828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좋은 세상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11480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"내 주변을 챙기고 좋은 마음을 나누다 보면,</a:t>
            </a:r>
            <a:endParaRPr lang="en-US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주변이 밝아지고, 내 동네가 밝아지고, 결국 더 좋은 세상이 되지 않을까요."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0" y="553212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오늘도, 당신이 세상을 밝힙니다.   </a:t>
            </a:r>
            <a:pPr algn="ctr" indent="0" marL="0">
              <a:buNone/>
            </a:pPr>
            <a:r>
              <a:rPr lang="en-US" sz="2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반디 ✨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반디 — 우리 동네를 밝히는 봉사 매칭</dc:title>
  <dc:subject>PptxGenJS Presentation</dc:subject>
  <dc:creator>반디</dc:creator>
  <cp:lastModifiedBy>반디</cp:lastModifiedBy>
  <cp:revision>1</cp:revision>
  <dcterms:created xsi:type="dcterms:W3CDTF">2026-08-14T07:14:31Z</dcterms:created>
  <dcterms:modified xsi:type="dcterms:W3CDTF">2026-08-14T07:14:31Z</dcterms:modified>
</cp:coreProperties>
</file>